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37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42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24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0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6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78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6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56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43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5997-7D00-4F87-AB6E-3F19803DC07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96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55997-7D00-4F87-AB6E-3F19803DC075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2AE81-2C3E-478D-B5AC-141EA9645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7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3851" y="575733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USB-C Connector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184401" y="575733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USB Switch</a:t>
            </a:r>
            <a:endParaRPr lang="en-US" sz="1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6536272" y="579965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5V -&gt; +/-12V Conv</a:t>
            </a:r>
          </a:p>
        </p:txBody>
      </p:sp>
      <p:sp>
        <p:nvSpPr>
          <p:cNvPr id="7" name="Rectangle 6"/>
          <p:cNvSpPr/>
          <p:nvPr/>
        </p:nvSpPr>
        <p:spPr>
          <a:xfrm>
            <a:off x="4546601" y="57573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5V -&gt; 5.5V Boost Converter</a:t>
            </a:r>
            <a:endParaRPr lang="en-US" sz="1200" dirty="0" smtClean="0"/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>
          <a:xfrm>
            <a:off x="1682750" y="990600"/>
            <a:ext cx="5016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5" idx="3"/>
            <a:endCxn id="7" idx="1"/>
          </p:cNvCxnSpPr>
          <p:nvPr/>
        </p:nvCxnSpPr>
        <p:spPr>
          <a:xfrm flipV="1">
            <a:off x="3543300" y="990598"/>
            <a:ext cx="1003301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741333" y="59267"/>
            <a:ext cx="4402667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Power Converter Chain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6575431" y="2556934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3.3VA LDO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75431" y="363220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3.3VDD LDO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31769" y="363220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1.8VDD LDO</a:t>
            </a:r>
          </a:p>
        </p:txBody>
      </p:sp>
      <p:cxnSp>
        <p:nvCxnSpPr>
          <p:cNvPr id="15" name="Elbow Connector 14"/>
          <p:cNvCxnSpPr>
            <a:stCxn id="7" idx="3"/>
            <a:endCxn id="28" idx="1"/>
          </p:cNvCxnSpPr>
          <p:nvPr/>
        </p:nvCxnSpPr>
        <p:spPr>
          <a:xfrm>
            <a:off x="5905500" y="990598"/>
            <a:ext cx="669931" cy="30564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3"/>
            <a:endCxn id="29" idx="1"/>
          </p:cNvCxnSpPr>
          <p:nvPr/>
        </p:nvCxnSpPr>
        <p:spPr>
          <a:xfrm>
            <a:off x="7934330" y="4047068"/>
            <a:ext cx="6974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565101" y="575733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+/-10V LDO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65102" y="1553629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+/-5V LDO</a:t>
            </a:r>
          </a:p>
        </p:txBody>
      </p:sp>
      <p:cxnSp>
        <p:nvCxnSpPr>
          <p:cNvPr id="36" name="Elbow Connector 35"/>
          <p:cNvCxnSpPr>
            <a:stCxn id="6" idx="3"/>
            <a:endCxn id="33" idx="1"/>
          </p:cNvCxnSpPr>
          <p:nvPr/>
        </p:nvCxnSpPr>
        <p:spPr>
          <a:xfrm flipV="1">
            <a:off x="7895171" y="990600"/>
            <a:ext cx="669930" cy="42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6" idx="3"/>
            <a:endCxn id="34" idx="1"/>
          </p:cNvCxnSpPr>
          <p:nvPr/>
        </p:nvCxnSpPr>
        <p:spPr>
          <a:xfrm>
            <a:off x="7895171" y="994832"/>
            <a:ext cx="669931" cy="9736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2870549" y="1405467"/>
            <a:ext cx="2820" cy="745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 rot="10800000" flipV="1">
            <a:off x="2354702" y="2150528"/>
            <a:ext cx="1031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Toggle Switch</a:t>
            </a:r>
            <a:endParaRPr lang="en-US" sz="1200" dirty="0"/>
          </a:p>
        </p:txBody>
      </p:sp>
      <p:cxnSp>
        <p:nvCxnSpPr>
          <p:cNvPr id="17" name="Elbow Connector 16"/>
          <p:cNvCxnSpPr>
            <a:stCxn id="7" idx="3"/>
            <a:endCxn id="6" idx="1"/>
          </p:cNvCxnSpPr>
          <p:nvPr/>
        </p:nvCxnSpPr>
        <p:spPr>
          <a:xfrm>
            <a:off x="5905500" y="990598"/>
            <a:ext cx="630772" cy="42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7" idx="3"/>
            <a:endCxn id="23" idx="1"/>
          </p:cNvCxnSpPr>
          <p:nvPr/>
        </p:nvCxnSpPr>
        <p:spPr>
          <a:xfrm>
            <a:off x="5905500" y="990598"/>
            <a:ext cx="669931" cy="19812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575431" y="4707468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5VDD LDO</a:t>
            </a:r>
            <a:endParaRPr lang="en-US" sz="1200" dirty="0" smtClean="0"/>
          </a:p>
        </p:txBody>
      </p:sp>
      <p:sp>
        <p:nvSpPr>
          <p:cNvPr id="25" name="Rectangle 24"/>
          <p:cNvSpPr/>
          <p:nvPr/>
        </p:nvSpPr>
        <p:spPr>
          <a:xfrm>
            <a:off x="8631769" y="4707468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3.0</a:t>
            </a:r>
            <a:r>
              <a:rPr lang="en-US" sz="1200" dirty="0" smtClean="0"/>
              <a:t>V </a:t>
            </a:r>
            <a:r>
              <a:rPr lang="en-US" sz="1200" dirty="0" smtClean="0"/>
              <a:t>LDO</a:t>
            </a:r>
          </a:p>
        </p:txBody>
      </p:sp>
      <p:cxnSp>
        <p:nvCxnSpPr>
          <p:cNvPr id="26" name="Straight Arrow Connector 25"/>
          <p:cNvCxnSpPr>
            <a:stCxn id="24" idx="3"/>
            <a:endCxn id="25" idx="1"/>
          </p:cNvCxnSpPr>
          <p:nvPr/>
        </p:nvCxnSpPr>
        <p:spPr>
          <a:xfrm>
            <a:off x="7934330" y="5122335"/>
            <a:ext cx="6974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7" idx="3"/>
            <a:endCxn id="24" idx="1"/>
          </p:cNvCxnSpPr>
          <p:nvPr/>
        </p:nvCxnSpPr>
        <p:spPr>
          <a:xfrm>
            <a:off x="5905500" y="990598"/>
            <a:ext cx="669931" cy="41317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325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573448" y="791627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RCA Jack Input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3448" y="224366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OPAxxxx</a:t>
            </a:r>
            <a:endParaRPr lang="en-US" sz="1200" dirty="0" smtClean="0"/>
          </a:p>
          <a:p>
            <a:pPr algn="ctr"/>
            <a:r>
              <a:rPr lang="en-US" sz="1200" dirty="0" smtClean="0"/>
              <a:t>Input buffer and DC block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167" y="224366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PCM5102A DAC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0192" y="224366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PGA2311 Volume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00117" y="224366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OPAxxxx</a:t>
            </a:r>
            <a:endParaRPr lang="en-US" sz="1200" dirty="0" smtClean="0"/>
          </a:p>
          <a:p>
            <a:pPr algn="ctr"/>
            <a:r>
              <a:rPr lang="en-US" sz="1200" dirty="0" smtClean="0"/>
              <a:t>Bessel Low Pass Filter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44433" y="224366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ADAU1701 DSP</a:t>
            </a:r>
          </a:p>
        </p:txBody>
      </p:sp>
      <p:cxnSp>
        <p:nvCxnSpPr>
          <p:cNvPr id="38" name="Straight Arrow Connector 37"/>
          <p:cNvCxnSpPr>
            <a:stCxn id="31" idx="2"/>
            <a:endCxn id="32" idx="0"/>
          </p:cNvCxnSpPr>
          <p:nvPr/>
        </p:nvCxnSpPr>
        <p:spPr>
          <a:xfrm>
            <a:off x="1252898" y="1621361"/>
            <a:ext cx="0" cy="62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2" idx="3"/>
            <a:endCxn id="35" idx="1"/>
          </p:cNvCxnSpPr>
          <p:nvPr/>
        </p:nvCxnSpPr>
        <p:spPr>
          <a:xfrm>
            <a:off x="1932347" y="2658528"/>
            <a:ext cx="367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5" idx="3"/>
            <a:endCxn id="36" idx="1"/>
          </p:cNvCxnSpPr>
          <p:nvPr/>
        </p:nvCxnSpPr>
        <p:spPr>
          <a:xfrm>
            <a:off x="3659016" y="2658528"/>
            <a:ext cx="3854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6" idx="3"/>
            <a:endCxn id="33" idx="1"/>
          </p:cNvCxnSpPr>
          <p:nvPr/>
        </p:nvCxnSpPr>
        <p:spPr>
          <a:xfrm>
            <a:off x="5403332" y="2658528"/>
            <a:ext cx="356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3" idx="3"/>
            <a:endCxn id="34" idx="1"/>
          </p:cNvCxnSpPr>
          <p:nvPr/>
        </p:nvCxnSpPr>
        <p:spPr>
          <a:xfrm>
            <a:off x="7119066" y="2658528"/>
            <a:ext cx="3711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757347" y="5080460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OPAxxxx</a:t>
            </a:r>
            <a:endParaRPr lang="en-US" sz="1200" dirty="0" smtClean="0"/>
          </a:p>
          <a:p>
            <a:pPr algn="ctr"/>
            <a:r>
              <a:rPr lang="en-US" sz="1200" dirty="0" smtClean="0"/>
              <a:t>Unity Gain Non Inverting Input Buffer</a:t>
            </a:r>
          </a:p>
        </p:txBody>
      </p:sp>
      <p:cxnSp>
        <p:nvCxnSpPr>
          <p:cNvPr id="44" name="Elbow Connector 43"/>
          <p:cNvCxnSpPr>
            <a:stCxn id="33" idx="2"/>
            <a:endCxn id="43" idx="0"/>
          </p:cNvCxnSpPr>
          <p:nvPr/>
        </p:nvCxnSpPr>
        <p:spPr>
          <a:xfrm rot="5400000">
            <a:off x="5434675" y="4075517"/>
            <a:ext cx="2007065" cy="28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027323" y="5080460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ESP32 </a:t>
            </a:r>
          </a:p>
          <a:p>
            <a:pPr algn="ctr"/>
            <a:r>
              <a:rPr lang="en-US" sz="1200" dirty="0" smtClean="0"/>
              <a:t>ADC</a:t>
            </a:r>
            <a:endParaRPr lang="en-US" sz="900" dirty="0" smtClean="0"/>
          </a:p>
        </p:txBody>
      </p:sp>
      <p:cxnSp>
        <p:nvCxnSpPr>
          <p:cNvPr id="46" name="Straight Arrow Connector 45"/>
          <p:cNvCxnSpPr>
            <a:stCxn id="43" idx="1"/>
            <a:endCxn id="45" idx="3"/>
          </p:cNvCxnSpPr>
          <p:nvPr/>
        </p:nvCxnSpPr>
        <p:spPr>
          <a:xfrm flipH="1">
            <a:off x="5386222" y="5495327"/>
            <a:ext cx="3711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220216" y="224366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Output Stage</a:t>
            </a:r>
          </a:p>
        </p:txBody>
      </p:sp>
      <p:cxnSp>
        <p:nvCxnSpPr>
          <p:cNvPr id="50" name="Straight Arrow Connector 49"/>
          <p:cNvCxnSpPr>
            <a:stCxn id="34" idx="3"/>
            <a:endCxn id="49" idx="1"/>
          </p:cNvCxnSpPr>
          <p:nvPr/>
        </p:nvCxnSpPr>
        <p:spPr>
          <a:xfrm>
            <a:off x="8849091" y="2658528"/>
            <a:ext cx="3711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4893744" y="164861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Bypass</a:t>
            </a:r>
          </a:p>
        </p:txBody>
      </p:sp>
      <p:cxnSp>
        <p:nvCxnSpPr>
          <p:cNvPr id="12" name="Elbow Connector 11"/>
          <p:cNvCxnSpPr>
            <a:stCxn id="35" idx="0"/>
            <a:endCxn id="51" idx="1"/>
          </p:cNvCxnSpPr>
          <p:nvPr/>
        </p:nvCxnSpPr>
        <p:spPr>
          <a:xfrm rot="5400000" flipH="1" flipV="1">
            <a:off x="3104689" y="454607"/>
            <a:ext cx="1663933" cy="19141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51" idx="3"/>
            <a:endCxn id="34" idx="0"/>
          </p:cNvCxnSpPr>
          <p:nvPr/>
        </p:nvCxnSpPr>
        <p:spPr>
          <a:xfrm>
            <a:off x="6252643" y="579728"/>
            <a:ext cx="1916999" cy="16639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9217397" y="3556227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Headphone Jack</a:t>
            </a:r>
          </a:p>
        </p:txBody>
      </p:sp>
      <p:cxnSp>
        <p:nvCxnSpPr>
          <p:cNvPr id="57" name="Straight Arrow Connector 56"/>
          <p:cNvCxnSpPr>
            <a:stCxn id="49" idx="2"/>
            <a:endCxn id="52" idx="0"/>
          </p:cNvCxnSpPr>
          <p:nvPr/>
        </p:nvCxnSpPr>
        <p:spPr>
          <a:xfrm flipH="1">
            <a:off x="9896847" y="3073395"/>
            <a:ext cx="2819" cy="482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246497" y="5080460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OLED Display</a:t>
            </a:r>
            <a:endParaRPr lang="en-US" sz="900" dirty="0" smtClean="0"/>
          </a:p>
        </p:txBody>
      </p:sp>
      <p:sp>
        <p:nvSpPr>
          <p:cNvPr id="63" name="Rectangle 62"/>
          <p:cNvSpPr/>
          <p:nvPr/>
        </p:nvSpPr>
        <p:spPr>
          <a:xfrm>
            <a:off x="4061367" y="3835858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EEPROM</a:t>
            </a:r>
          </a:p>
        </p:txBody>
      </p:sp>
      <p:cxnSp>
        <p:nvCxnSpPr>
          <p:cNvPr id="65" name="Straight Arrow Connector 64"/>
          <p:cNvCxnSpPr>
            <a:stCxn id="63" idx="0"/>
            <a:endCxn id="36" idx="2"/>
          </p:cNvCxnSpPr>
          <p:nvPr/>
        </p:nvCxnSpPr>
        <p:spPr>
          <a:xfrm flipH="1" flipV="1">
            <a:off x="4723883" y="3073395"/>
            <a:ext cx="16934" cy="762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6252643" y="359595"/>
            <a:ext cx="21378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877174" y="144656"/>
            <a:ext cx="1031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Toggle Switch</a:t>
            </a:r>
            <a:endParaRPr lang="en-US" sz="1200" dirty="0"/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4969934" y="1621361"/>
            <a:ext cx="0" cy="62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5122334" y="1621361"/>
            <a:ext cx="0" cy="62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274734" y="1621361"/>
            <a:ext cx="0" cy="62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259231" y="1688062"/>
            <a:ext cx="17518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</a:t>
            </a:r>
            <a:r>
              <a:rPr lang="en-US" sz="1200" dirty="0" smtClean="0"/>
              <a:t>x </a:t>
            </a:r>
            <a:r>
              <a:rPr lang="en-US" sz="1200" dirty="0" smtClean="0"/>
              <a:t>rotary potentiometers</a:t>
            </a:r>
            <a:endParaRPr lang="en-US" sz="1200" dirty="0"/>
          </a:p>
        </p:txBody>
      </p:sp>
      <p:cxnSp>
        <p:nvCxnSpPr>
          <p:cNvPr id="77" name="Straight Arrow Connector 76"/>
          <p:cNvCxnSpPr>
            <a:stCxn id="45" idx="1"/>
            <a:endCxn id="62" idx="3"/>
          </p:cNvCxnSpPr>
          <p:nvPr/>
        </p:nvCxnSpPr>
        <p:spPr>
          <a:xfrm flipH="1">
            <a:off x="3605396" y="5495327"/>
            <a:ext cx="4219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609815" y="5207861"/>
            <a:ext cx="383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I2C</a:t>
            </a:r>
            <a:endParaRPr lang="en-US" sz="1200" dirty="0"/>
          </a:p>
        </p:txBody>
      </p:sp>
      <p:cxnSp>
        <p:nvCxnSpPr>
          <p:cNvPr id="80" name="Elbow Connector 79"/>
          <p:cNvCxnSpPr>
            <a:stCxn id="45" idx="2"/>
            <a:endCxn id="34" idx="2"/>
          </p:cNvCxnSpPr>
          <p:nvPr/>
        </p:nvCxnSpPr>
        <p:spPr>
          <a:xfrm rot="5400000" flipH="1" flipV="1">
            <a:off x="5019807" y="2760360"/>
            <a:ext cx="2836799" cy="3462869"/>
          </a:xfrm>
          <a:prstGeom prst="bentConnector3">
            <a:avLst>
              <a:gd name="adj1" fmla="val -80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703952" y="5866144"/>
            <a:ext cx="373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SPI</a:t>
            </a:r>
            <a:endParaRPr lang="en-US" sz="1200" dirty="0"/>
          </a:p>
        </p:txBody>
      </p:sp>
      <p:sp>
        <p:nvSpPr>
          <p:cNvPr id="47" name="Rectangle 46"/>
          <p:cNvSpPr/>
          <p:nvPr/>
        </p:nvSpPr>
        <p:spPr>
          <a:xfrm>
            <a:off x="2246497" y="3835858"/>
            <a:ext cx="1358899" cy="8297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York Audio Module</a:t>
            </a:r>
            <a:endParaRPr lang="en-US" sz="900" dirty="0" smtClean="0"/>
          </a:p>
        </p:txBody>
      </p:sp>
      <p:cxnSp>
        <p:nvCxnSpPr>
          <p:cNvPr id="4" name="Elbow Connector 3"/>
          <p:cNvCxnSpPr>
            <a:stCxn id="47" idx="0"/>
            <a:endCxn id="36" idx="2"/>
          </p:cNvCxnSpPr>
          <p:nvPr/>
        </p:nvCxnSpPr>
        <p:spPr>
          <a:xfrm rot="5400000" flipH="1" flipV="1">
            <a:off x="3443684" y="2555659"/>
            <a:ext cx="762463" cy="17979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110282" y="3211262"/>
            <a:ext cx="6440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I2C, I2S</a:t>
            </a:r>
            <a:endParaRPr lang="en-US" sz="1200" dirty="0"/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4817534" y="1621361"/>
            <a:ext cx="0" cy="62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4284134" y="1621361"/>
            <a:ext cx="0" cy="62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158371" y="1759229"/>
            <a:ext cx="11918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1x toggle switch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13980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837" y="215763"/>
            <a:ext cx="8803077" cy="664223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84604" y="893252"/>
            <a:ext cx="1358899" cy="24130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RCA Jack Input 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9603" y="819108"/>
            <a:ext cx="648588" cy="24130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usbc</a:t>
            </a:r>
            <a:endParaRPr lang="en-US" sz="12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2649292" y="1246962"/>
            <a:ext cx="1358899" cy="685800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ON/OFF Switch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1959616" y="2252641"/>
            <a:ext cx="1358899" cy="342911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Boost Converter</a:t>
            </a:r>
            <a:endParaRPr lang="en-US" sz="1200" dirty="0" smtClean="0"/>
          </a:p>
        </p:txBody>
      </p:sp>
      <p:sp>
        <p:nvSpPr>
          <p:cNvPr id="10" name="Rectangle 9"/>
          <p:cNvSpPr/>
          <p:nvPr/>
        </p:nvSpPr>
        <p:spPr>
          <a:xfrm>
            <a:off x="2236299" y="3269224"/>
            <a:ext cx="634113" cy="520769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3.3VA LDO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7971" y="3728101"/>
            <a:ext cx="634113" cy="488299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3.3V LDO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6969" y="1469241"/>
            <a:ext cx="1623823" cy="1181100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+/-12V Switcher</a:t>
            </a:r>
          </a:p>
          <a:p>
            <a:pPr algn="ctr"/>
            <a:r>
              <a:rPr lang="en-US" sz="1200" dirty="0" smtClean="0"/>
              <a:t>TPS65131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7193" y="969400"/>
            <a:ext cx="1094317" cy="127692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+/-5V LDO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732" y="3714750"/>
            <a:ext cx="815211" cy="780364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+/-10V LDO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5938" y="1246962"/>
            <a:ext cx="1736998" cy="1061852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Input Stage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9215" y="2337362"/>
            <a:ext cx="1736998" cy="625958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Analog Switches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62362" y="3038476"/>
            <a:ext cx="1071394" cy="627063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PGA2311 Volume Control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2333" y="2963320"/>
            <a:ext cx="1377474" cy="1699159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Output Stage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89193" y="2170632"/>
            <a:ext cx="1676742" cy="1544118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ADAU1701 DSP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2634" y="2475461"/>
            <a:ext cx="990054" cy="75775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PCM5102 DAC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32468" y="2700064"/>
            <a:ext cx="1228725" cy="2670191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ESP32 Module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769" y="3714750"/>
            <a:ext cx="1470736" cy="56304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York USB Module Connector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99867" y="3724007"/>
            <a:ext cx="885228" cy="723909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ADAU1701 Reset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09487" y="3388321"/>
            <a:ext cx="887964" cy="39569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SPI Level Shifter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69405" y="4958536"/>
            <a:ext cx="473075" cy="56304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3.0</a:t>
            </a:r>
            <a:r>
              <a:rPr lang="en-US" sz="1200" dirty="0" smtClean="0"/>
              <a:t>V </a:t>
            </a:r>
            <a:r>
              <a:rPr lang="en-US" sz="1200" dirty="0" smtClean="0"/>
              <a:t>LDO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0197" y="3282927"/>
            <a:ext cx="473075" cy="563046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1.8V LDO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29300" y="2761851"/>
            <a:ext cx="634113" cy="488299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5.0</a:t>
            </a:r>
            <a:r>
              <a:rPr lang="en-US" sz="1200" dirty="0" smtClean="0"/>
              <a:t>V </a:t>
            </a:r>
            <a:r>
              <a:rPr lang="en-US" sz="1200" dirty="0" smtClean="0"/>
              <a:t>LDO</a:t>
            </a:r>
          </a:p>
        </p:txBody>
      </p:sp>
    </p:spTree>
    <p:extLst>
      <p:ext uri="{BB962C8B-B14F-4D97-AF65-F5344CB8AC3E}">
        <p14:creationId xmlns:p14="http://schemas.microsoft.com/office/powerpoint/2010/main" val="3200492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141</Words>
  <Application>Microsoft Office PowerPoint</Application>
  <PresentationFormat>Widescreen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tennesse.titans99@gmail.com</dc:creator>
  <cp:lastModifiedBy>tennesse.titans99@gmail.com</cp:lastModifiedBy>
  <cp:revision>30</cp:revision>
  <dcterms:created xsi:type="dcterms:W3CDTF">2024-11-13T01:41:29Z</dcterms:created>
  <dcterms:modified xsi:type="dcterms:W3CDTF">2025-12-05T00:09:42Z</dcterms:modified>
</cp:coreProperties>
</file>